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0-7 days</c:v>
                  </c:pt>
                  <c:pt idx="1">
                    <c:v>8-14 days</c:v>
                  </c:pt>
                  <c:pt idx="2">
                    <c:v>15-30 days</c:v>
                  </c:pt>
                  <c:pt idx="3">
                    <c:v>31-45 days</c:v>
                  </c:pt>
                  <c:pt idx="4">
                    <c:v>46-60 days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27.8</c:v>
                </c:pt>
                <c:pt idx="1">
                  <c:v>33.6</c:v>
                </c:pt>
                <c:pt idx="2">
                  <c:v>43.2</c:v>
                </c:pt>
                <c:pt idx="3">
                  <c:v>53.8</c:v>
                </c:pt>
                <c:pt idx="4">
                  <c:v>67.7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9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No-show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9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%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0-7d</c:v>
                  </c:pt>
                  <c:pt idx="1">
                    <c:v>8-14d</c:v>
                  </c:pt>
                  <c:pt idx="2">
                    <c:v>15-30d</c:v>
                  </c:pt>
                  <c:pt idx="3">
                    <c:v>31-45d</c:v>
                  </c:pt>
                  <c:pt idx="4">
                    <c:v>46-60d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27.8</c:v>
                </c:pt>
                <c:pt idx="1">
                  <c:v>33.6</c:v>
                </c:pt>
                <c:pt idx="2">
                  <c:v>43.2</c:v>
                </c:pt>
                <c:pt idx="3">
                  <c:v>53.8</c:v>
                </c:pt>
                <c:pt idx="4">
                  <c:v>67.7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CFEFE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F52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CFEFE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13438"/>
        </a:solidFill>
        <a:ln>
          <a:noFill/>
        </a:ln>
        <a:effectLst/>
      </c:spPr>
    </c:plotArea>
    <c:plotVisOnly val="1"/>
    <c:dispBlanksAs val="span"/>
  </c:chart>
  <c:spPr>
    <a:solidFill>
      <a:srgbClr val="01343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 5 km</c:v>
                  </c:pt>
                  <c:pt idx="1">
                    <c:v>5-10 km</c:v>
                  </c:pt>
                  <c:pt idx="2">
                    <c:v>10-15 km</c:v>
                  </c:pt>
                  <c:pt idx="3">
                    <c:v>15 km 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46.5</c:v>
                </c:pt>
                <c:pt idx="1">
                  <c:v>46.5</c:v>
                </c:pt>
                <c:pt idx="2">
                  <c:v>48.5</c:v>
                </c:pt>
                <c:pt idx="3">
                  <c:v>54.1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9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9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B2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B2B"/>
                </a:solidFill>
                <a:latin typeface="Arial"/>
              </a:rPr>
              <a:t>Cancellation-to-No-Show Ratio by Lead Time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 : no-show ratio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0-7d</c:v>
                  </c:pt>
                  <c:pt idx="1">
                    <c:v>8-14d</c:v>
                  </c:pt>
                  <c:pt idx="2">
                    <c:v>15-30d</c:v>
                  </c:pt>
                  <c:pt idx="3">
                    <c:v>31-45d</c:v>
                  </c:pt>
                  <c:pt idx="4">
                    <c:v>46-60d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0.202</c:v>
                </c:pt>
                <c:pt idx="1">
                  <c:v>0.139</c:v>
                </c:pt>
                <c:pt idx="2">
                  <c:v>0.118</c:v>
                </c:pt>
                <c:pt idx="3">
                  <c:v>0.105</c:v>
                </c:pt>
                <c:pt idx="4">
                  <c:v>0.076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9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9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3438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HealthConnect Clinic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Analytics &amp; Decision Support Package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146304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Data Analytics Track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Hillary Emmanuel  |  AnalystLab Africa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5087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loses appointment slots to missed appointments that are, in large part, predictable before the appointment ever happens.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77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appointments analyzed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834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2F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484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48.5%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977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no-show rate (2,423 no-shows, 263 cancellations)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834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2F7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4.66%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977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bookings fall into the highest-risk segment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question: how can HealthConnect use data to reduce missed appointments and improve patient support?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KPIs and a Power BI dashboard from the prepared HealthConnect dataset (5,000 records).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40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60604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independently recomputed from raw data, matched to four decimal places.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240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0604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retested (lead time, distance, prior no-shows) with bootstrap confidence intervals.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89720" y="15544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897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240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60604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cross-track discrepancy caught and corrected, then retested under two model types.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Microsoft Power BI, Python (pandas, bootstrap resampling), Jupyter notebooks, GitHub.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KPIs: No-Show Rate by Lead Time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4630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2F7F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2668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no-shows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1901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43.5% → 68.8% (0 to 3+)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98080" y="26060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2F7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26680" y="2679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3044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46.5% → 54.1% (15km+ threshold)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98080" y="37490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2F7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sent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4187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 vs 51.4% (no reminder)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498080" y="48920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2F7F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26680" y="4965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: no-show ratio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5330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0.202 → 0.076 as lead time grows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594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Lead Time: The Strongest Predictor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27.8%  →  67.7%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rate, from bookings made within a week to bookings made 46-60 days ahead.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1887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02336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across Week 5 point estimates, Week 6 bootstrap confidence intervals, Week 7 segment tests against appointment type and age group, and by the DS track collaborator's own model, where it is the dominant feature.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92240" y="1371600"/>
          <a:ext cx="51206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2: The Double-Risk Segment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5087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booking 31+ days out with 2 or more prior no-shows form a small, sharply high-risk group.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743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4.66%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bookings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6060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2F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2743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in the dataset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6060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2743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26060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2F7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52560" y="2743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[67.4%, 79.0%]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was originally coded as 46+ days, but a reproduction test failed. Correcting it to 31+ days and retesting under both a Random Forest and the exact Week 6 Logistic Regression candidate showed no performance difference between the two thresholds, so the data-backed 31+ day definition was adopted.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3: Distance Is a Threshold, Not a Gradient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178040" y="15544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closer bands (under 5km, 5-10km, 10-15km) are statistically indistinguishable from each other. Only the 15km+ band stands apart, about +7 points, and that gap holds inside every lead-time band.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7178040" y="3200400"/>
            <a:ext cx="4480560" cy="2377440"/>
          </a:xfrm>
          <a:prstGeom prst="roundRect">
            <a:avLst>
              <a:gd name="adj" fmla="val 3846"/>
            </a:avLst>
          </a:prstGeom>
          <a:solidFill>
            <a:srgbClr val="F2F7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0664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37033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explained by lead time itself (correlation -0.008 between distance and lead time). A modest effect on model performance (AUC +0.004), but a clear, real signal in the data.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apply a 15+ km threshold rule for resourcing, not a graded distance policy.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4: Reminders, and the Silent No-Show Pattern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5087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effect is real but modest, and less thoroughly tested than lead time or distance.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sent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063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reminder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217920" y="2286000"/>
          <a:ext cx="5394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lead time grows, patients increasingly fail to show up without cancelling first, rather than cancelling ahead of time. This is a hypothesis worth testing with an intervention, not yet a proven causal result.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8132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lead time is the single most useful signal HealthConnect has for predicting no-shows, and it is available the moment the appointment is booked.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3288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patients (under 5% of bookings) accounts for a disproportionate share of high-confidence no-show risk, making a higher-touch intervention realistic rather than a blanket policy change.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8444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not a reason to treat all far patients the same way; only the 15+ km group shows a distinct, consistent effect.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63600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Long-lead-time bookings fail silently more often than they are actively cancelled, which existing cancellation-tracking processes will not catch.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8191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booking lead time as the primary variable for prioritising reminder effort and future intervention 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49631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targeted phone call for the double-risk segment (design on next slide).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41071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15+ km threshold rule for distance-based resourcing, not a graded distance policy.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32511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pairing long-lead-time reminders with an easy reschedule option to address the silent no-show pattern.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23951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reminder_sent and reminder_channel effects to the same depth as lead time and distance.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Double-Risk Call Pilot: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run inside the current dataset, so it is presented as a design only.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13232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3794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flagged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83794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31+ days, 2+ prior no-shows — 4.66% of bookings (233 of 5,000), baseline 73.0% no-show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10642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8775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(proposed)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8775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phone call in place of the standard SMS reminder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11064240" cy="713232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3375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3375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of flagged patients into call vs. standard reminder, same clinic and period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110642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8736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08736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rate. Secondary: cancellation / reschedule rate, staff minutes per call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82312"/>
            <a:ext cx="11064240" cy="713232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83717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estimate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83717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~341 flagged patients per group (682 total) to detect a 10-point drop at 5% significance, 80% power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5869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rule (proposed)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55869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of at least 10 points, with the 95% interval excluding zero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Cross-Track Collaboration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real cross-track exchange this cycle was with the DS track collaborator.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→ DS Track Collaborator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9966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double_risk_flag feature cited the DA finding but was coded at a 46+ day threshold instead of the validated 31+ days.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the segment under both thresholds directly from the shared prepared dataset, then retested model performance under a Random Forest and the exact Week 6 Logistic Regression candidate. No performance difference was found between the two thresholds — the corrected 31+ day threshold is now being merged into train_improved.py.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719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one 5,000-row fictional dataset; no held-out or external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323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2677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subgroups (3+ prior no-shows; 15+ km within a lead-time band) carry wider uncertainty.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14553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98094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reminder_sent and reminder_channel effects are less thoroughly tested than lead time and distance.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69417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double-risk call pilot is a design only — it has not been run.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3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explains most of the risk: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lead time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68680" y="3566160"/>
            <a:ext cx="12801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reminder and outreach effort by lead time and prior no-show history is a simple, practical step HealthConnect can act on now.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 |  Week 8 Final Analytics  |  Data Analytics Track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2026-09-27T20:29:29Z</dcterms:created>
  <dcterms:modified xsi:type="dcterms:W3CDTF">2026-09-27T20:29:29Z</dcterms:modified>
</cp:coreProperties>
</file>